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188720"/>
            <a:ext cx="54864" cy="16459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8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사람 중심 AI 전환(AX) 방법론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컨설턴트가 도입하고 떠난 자리에서,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FLOW~는 사람이 전환을 완수할 때까지 함께합니다.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3291840"/>
            <a:ext cx="27432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코디네이터 임정훈  |  HRD 15년  |  200+ AI 앱 빌드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AI 전환이 실패하는가?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2286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1645920"/>
            <a:ext cx="731520" cy="7315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도입 기업 중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ROI 미달성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645920"/>
            <a:ext cx="731520" cy="7315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2514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657600" y="3017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변화관리 없이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도구만 도입 후 방치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1645920"/>
            <a:ext cx="731520" cy="7315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2514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00800" y="3017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중간관리자 저항으로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전사 확산 실패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원인: 기술 도입에만 집중하고, 사람의 전환을 설계하지 않았습니다.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FLOW~  |  flowdesign.ai.kr  |  AI 코디네이터 임정훈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FLOW~의 답: HRD 기반 사람 중심 AX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2286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46304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371600"/>
            <a:ext cx="29260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371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AX 컨설팅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607040" y="1371600"/>
            <a:ext cx="29260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0" y="1371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 AX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783080"/>
            <a:ext cx="1463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7830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출발점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783080"/>
            <a:ext cx="29260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1783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가시화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07040" y="1783080"/>
            <a:ext cx="29260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1783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 교육 선행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286000"/>
            <a:ext cx="146304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2860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가시화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94560" y="2286000"/>
            <a:ext cx="292608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2331720" y="2286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중심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607040" y="2286000"/>
            <a:ext cx="292608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10744200" y="2286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역할+업무+역량 통합 (RTC)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2788920"/>
            <a:ext cx="1463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2788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94560" y="2788920"/>
            <a:ext cx="29260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2788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3축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607040" y="2788920"/>
            <a:ext cx="29260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744200" y="2788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ICEP 4축 (사람 준비도 추가)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291840"/>
            <a:ext cx="146304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2918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변화관리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94560" y="3291840"/>
            <a:ext cx="292608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2331720" y="3291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저항 유형 분류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607040" y="3291840"/>
            <a:ext cx="292608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4" name="Text 32"/>
          <p:cNvSpPr/>
          <p:nvPr/>
        </p:nvSpPr>
        <p:spPr>
          <a:xfrm>
            <a:off x="10744200" y="3291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STAR-AR 코칭 프레임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3794760"/>
            <a:ext cx="1463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37947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측정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94560" y="3794760"/>
            <a:ext cx="29260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2331720" y="3794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지표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607040" y="3794760"/>
            <a:ext cx="29260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10744200" y="3794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 + ARQ 3중 검증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1371600"/>
            <a:ext cx="54864" cy="29260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FLOW~  |  flowdesign.ai.kr  |  AI 코디네이터 임정훈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Phase 로드맵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12주 ~ 최대 6개월  |  Phase 5 → Phase 0 순환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097280" cy="2286000"/>
          </a:xfrm>
          <a:prstGeom prst="rect">
            <a:avLst/>
          </a:prstGeom>
          <a:solidFill>
            <a:srgbClr val="7030A0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레디니스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606040"/>
            <a:ext cx="82296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5축 진단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60120" y="1463040"/>
            <a:ext cx="411480" cy="1828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463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32588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08760" y="1463040"/>
            <a:ext cx="1097280" cy="2286000"/>
          </a:xfrm>
          <a:prstGeom prst="rect">
            <a:avLst/>
          </a:prstGeom>
          <a:solidFill>
            <a:srgbClr val="4472C4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0876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18745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리터러시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2606040"/>
            <a:ext cx="82296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0876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기본반/실무반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43200" y="1463040"/>
            <a:ext cx="1097280" cy="2286000"/>
          </a:xfrm>
          <a:prstGeom prst="rect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88920" y="18745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역할·업무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역량 가시화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80360" y="2606040"/>
            <a:ext cx="82296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88036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캔버스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9476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77640" y="1463040"/>
            <a:ext cx="1097280" cy="2286000"/>
          </a:xfrm>
          <a:prstGeom prst="rect">
            <a:avLst/>
          </a:prstGeom>
          <a:solidFill>
            <a:srgbClr val="548235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97764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23360" y="18745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적용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0" y="2606040"/>
            <a:ext cx="82296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7764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ICEP 매트릭스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12080" y="1463040"/>
            <a:ext cx="1097280" cy="2286000"/>
          </a:xfrm>
          <a:prstGeom prst="rect">
            <a:avLst/>
          </a:prstGeom>
          <a:solidFill>
            <a:srgbClr val="ED7D31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21208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18745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재설계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49240" y="2606040"/>
            <a:ext cx="82296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34924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2~4주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WHY-WHAT-HOW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6364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46520" y="1463040"/>
            <a:ext cx="1097280" cy="2286000"/>
          </a:xfrm>
          <a:prstGeom prst="rect">
            <a:avLst/>
          </a:prstGeom>
          <a:solidFill>
            <a:srgbClr val="C00000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4652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92240" y="18745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+변화관리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83680" y="2606040"/>
            <a:ext cx="82296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58368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4~6주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4652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STAR-AR 코칭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9808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680960" y="1463040"/>
            <a:ext cx="1097280" cy="2286000"/>
          </a:xfrm>
          <a:prstGeom prst="rect">
            <a:avLst/>
          </a:prstGeom>
          <a:solidFill>
            <a:srgbClr val="D4A84B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68096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26680" y="18745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측정·확산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818120" y="2606040"/>
            <a:ext cx="82296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81812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68096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EARS+ARQ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152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Phase에 FLOW~ 고유 도구 적용  |  피드백 루프로 지속적 개선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FLOW~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FLOW~ 고유 도구: RTC 캔버스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Role-Task-Competency | 3영역 × 9항목 | 업무만이 아닌 '사람의 전환'을 설계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2468880" cy="54864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— Role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 누구인가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228600" cy="228600"/>
          </a:xfrm>
          <a:prstGeom prst="ellipse">
            <a:avLst/>
          </a:prstGeom>
          <a:solidFill>
            <a:srgbClr val="2E509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3444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R1. 핵심 가치 정의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228600" cy="228600"/>
          </a:xfrm>
          <a:prstGeom prst="ellipse">
            <a:avLst/>
          </a:prstGeom>
          <a:solidFill>
            <a:srgbClr val="2E509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17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R2. 역할 경계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228600" cy="228600"/>
          </a:xfrm>
          <a:prstGeom prst="ellipse">
            <a:avLst/>
          </a:prstGeom>
          <a:solidFill>
            <a:srgbClr val="2E5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11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3444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R3. 성장 벡터 + 전환 트랙★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14630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463040"/>
            <a:ext cx="2468880" cy="54864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1645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— Task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0" y="19659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 무엇을 하는가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2423160"/>
            <a:ext cx="228600" cy="228600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7764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T1. 업무 목록 + 시간 배분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3017520"/>
            <a:ext cx="228600" cy="228600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3017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7764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 입출력 구조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0" y="3611880"/>
            <a:ext cx="228600" cy="228600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0" y="3611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7764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 AI 적합도 5단계★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4630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1463040"/>
            <a:ext cx="2468880" cy="5486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1645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— Competency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0" y="19659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 무엇을 할 수 있는가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2423160"/>
            <a:ext cx="228600" cy="2286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2084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C1. 현재 역량 수준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3017520"/>
            <a:ext cx="228600" cy="2286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3017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2084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C2. AI 협업 역량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3611880"/>
            <a:ext cx="228600" cy="2286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3611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2084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C3. 전환 역량 갭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44805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C 영역이 있어야 '이 사람이 전환할 준비가 됐는가'를 판단할 수 있습니다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FLOW~  |  flowdesign.ai.kr  |  AI 코디네이터 임정훈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ICEP: P축이 만드는 차이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+ People Readiness = 사람 준비도를 반영한 4축 평가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749040" cy="4114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ICE만 적용 (기존)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재무팀 월간 보고서 자동화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I=9  C=8  E=7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"즉시 실행" 판정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71600"/>
            <a:ext cx="3749040" cy="4114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71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ICEP 적용 (FLOW~)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9202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재무팀 월간 보고서 자동화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I=9  C=8  E=7 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P=3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6.75점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"단기 실행"으로 조정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2194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P점수 낮은 이유: 팀장 AI 불신 + 팀원 역량 부족  →  선행 조치: 팀장 1:1 코칭 + 추가 교육 후 재평가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FLOW~  |  flowdesign.ai.kr  |  AI 코디네이터 임정훈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EARS + ARQ: 3중 검증 성과 체계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수치로 증명하고, 검증하고, 지속합니다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920240" cy="2377440"/>
          </a:xfrm>
          <a:prstGeom prst="rect">
            <a:avLst/>
          </a:prstGeom>
          <a:solidFill>
            <a:srgbClr val="548235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13716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처리시간 단축률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오류율 감소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절감액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1463040"/>
            <a:ext cx="1920240" cy="2377440"/>
          </a:xfrm>
          <a:prstGeom prst="rect">
            <a:avLst/>
          </a:prstGeom>
          <a:solidFill>
            <a:srgbClr val="4472C4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97480" y="2194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71800" y="2743200"/>
            <a:ext cx="13716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방향 일치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 간 일관성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463040"/>
            <a:ext cx="1920240" cy="2377440"/>
          </a:xfrm>
          <a:prstGeom prst="rect">
            <a:avLst/>
          </a:prstGeom>
          <a:solidFill>
            <a:srgbClr val="ED7D31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846320" y="2194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20640" y="2743200"/>
            <a:ext cx="13716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만족도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30/60/90일 사용률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95160" y="1463040"/>
            <a:ext cx="1920240" cy="2377440"/>
          </a:xfrm>
          <a:prstGeom prst="rect">
            <a:avLst/>
          </a:prstGeom>
          <a:solidFill>
            <a:srgbClr val="D4A84B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995160" y="2194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지속가능성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69480" y="2743200"/>
            <a:ext cx="13716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지속률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자발적 확산 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3중 검증:  Accuracy(정확성) × Relevance(적합성) × Quality(품질)  →  측정의 신뢰도까지 보장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FLOW~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시뮬레이션: 파일럿 4주 기준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2286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1828800" cy="54864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4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처리시간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28016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280160"/>
            <a:ext cx="1828800" cy="54864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463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1,500만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88920" y="2240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절감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(월간)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280160"/>
            <a:ext cx="18288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463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84.7%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2240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28016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280160"/>
            <a:ext cx="18288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463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6.5개월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03720" y="2240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회수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4기둥 ROI 모델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3566160"/>
            <a:ext cx="1828800" cy="502920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효율성 40~50%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82219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절감 + 생산성 향상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88920" y="3566160"/>
            <a:ext cx="1828800" cy="50292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6" name="Text 24"/>
          <p:cNvSpPr/>
          <p:nvPr/>
        </p:nvSpPr>
        <p:spPr>
          <a:xfrm>
            <a:off x="278892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증대 20~25%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88920" y="382219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증가 + 고객 만족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3566160"/>
            <a:ext cx="1828800" cy="50292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완화 20~25%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82219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감소 + 컴플라이언스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03720" y="3566160"/>
            <a:ext cx="1828800" cy="502920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민첩성 10~15%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03720" y="382219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+ 이탈률 감소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FLOW~  |  flowdesign.ai.kr  |  AI 코디네이터 임정훈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제안 패키지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2286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2651760" cy="7315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진단형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-1 + 0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레디니스 진단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 기초 교육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AX 준비도 리포트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128016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280160"/>
            <a:ext cx="2651760" cy="7315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325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파일럿형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1691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1143000"/>
            <a:ext cx="822960" cy="2286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143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1188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0~4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11880" y="24688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 2주 교육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캔버스 워크숍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ICEP 우선순위 결정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1개 팀 실행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리포트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28016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280160"/>
            <a:ext cx="265176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325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풀 사이클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1691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12주~6개월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-1~5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24688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Phase 수행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전사 확산 Wave 실행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Champion 육성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체계 수립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 대시보드 구축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FLOW~  |  flowdesign.ai.kr  |  AI 코디네이터 임정훈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54864" cy="16459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전환의 시작은</a:t>
            </a:r>
            <a:endParaRPr lang="en-US" sz="3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사람에 대한 이해입니다.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FLOW~와 함께 사람과 일의 흐름을 다시 디자인하세요.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2926080"/>
            <a:ext cx="27432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200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임정훈 (Demian)  |  AI 코디네이터
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flowdesign.ai.kr  |  rescuemyself@gmail.com  |  010-5261-9459
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linkedin.com/in/정훈-임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FLOW~  |  사람과 일의 흐름을 디자인합니다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FLOW~ AX 방법론 — 대기업 HRD 제안</dc:title>
  <dc:subject>PptxGenJS Presentation</dc:subject>
  <dc:creator>임정훈 (Demian)</dc:creator>
  <cp:lastModifiedBy>임정훈 (Demian)</cp:lastModifiedBy>
  <cp:revision>1</cp:revision>
  <dcterms:created xsi:type="dcterms:W3CDTF">2026-03-21T04:47:30Z</dcterms:created>
  <dcterms:modified xsi:type="dcterms:W3CDTF">2026-03-21T04:47:30Z</dcterms:modified>
</cp:coreProperties>
</file>