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85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FLOW~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Design Lab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기업 AI 전환(AX)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컨설팅 제안서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4114800" cy="0"/>
          </a:xfrm>
          <a:prstGeom prst="line">
            <a:avLst/>
          </a:prstGeom>
          <a:noFill/>
          <a:ln w="19050">
            <a:solidFill>
              <a:srgbClr val="E86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</a:t>
            </a:r>
            <a:r>
              <a:rPr lang="en-US" sz="14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 </a:t>
            </a:r>
            <a:r>
              <a:rPr lang="ko-KR" altLang="en-US" sz="14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사람을 연결하는 </a:t>
            </a:r>
            <a:r>
              <a:rPr lang="en-US" sz="1400" i="1" dirty="0" err="1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</a:t>
            </a:r>
            <a:r>
              <a:rPr lang="en-US" sz="14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</a:t>
            </a:r>
            <a:r>
              <a:rPr lang="en-US" sz="1400" i="1" dirty="0" err="1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합니다</a:t>
            </a:r>
            <a:r>
              <a:rPr lang="en-US" sz="14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023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임정훈 (Demian)  |  AX 디자이너 · AI 코디네이터  |  HRD 15년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297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flowdesign.ai.kr  |  rescuemyself@gmail.com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전환의 현실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53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AI 전환인가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19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실패의 공통 패턴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38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AX는 왜 실패하는가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037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AX 차별점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AI를 연결하는 교육 접근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883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AX 방법론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~ 5 전체 구조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45536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72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172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성과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3924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예상 결과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630168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소개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8770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임정훈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422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3616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시작하는 방법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 왜 AX(AI 전환)인가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우위의 기반이 AI 활용 역량으로 이동하고 있습니다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2606040" cy="3200400"/>
          </a:xfrm>
          <a:prstGeom prst="rect">
            <a:avLst/>
          </a:prstGeom>
          <a:solidFill>
            <a:srgbClr val="F4F4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169164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대기업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 계획 또는 진행 중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(업계 보고서 추정치)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606040" cy="3200400"/>
          </a:xfrm>
          <a:prstGeom prst="rect">
            <a:avLst/>
          </a:prstGeom>
          <a:solidFill>
            <a:srgbClr val="1A233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17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2년</a:t>
            </a:r>
            <a:endParaRPr lang="en-US" sz="5000" dirty="0"/>
          </a:p>
        </p:txBody>
      </p:sp>
      <p:sp>
        <p:nvSpPr>
          <p:cNvPr id="12" name="Shape 10"/>
          <p:cNvSpPr/>
          <p:nvPr/>
        </p:nvSpPr>
        <p:spPr>
          <a:xfrm>
            <a:off x="3840480" y="2514600"/>
            <a:ext cx="169164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 타임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전환하지 않으면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경쟁사가 먼저 선점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2606040" cy="3200400"/>
          </a:xfrm>
          <a:prstGeom prst="rect">
            <a:avLst/>
          </a:prstGeom>
          <a:solidFill>
            <a:srgbClr val="F4F4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4173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5000" dirty="0"/>
          </a:p>
        </p:txBody>
      </p:sp>
      <p:sp>
        <p:nvSpPr>
          <p:cNvPr id="17" name="Shape 15"/>
          <p:cNvSpPr/>
          <p:nvPr/>
        </p:nvSpPr>
        <p:spPr>
          <a:xfrm>
            <a:off x="6675120" y="2514600"/>
            <a:ext cx="169164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실패율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기술은 도입했으나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정착에 실패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수치는 업계 공개 보고서 기반 참고 추정치입니다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AX 실패의 공통 패턴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기술은 도입했지만, 사람이 따라가지 못했습니다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없이 도구 도입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직원들이 AI가 무엇을 할 수 있는지 모른 채 업무 자동화부터 시작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업무만 가시화, 역량은 빠짐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1762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업무를 AI로 바꿀지는 정했지만 사람의 준비도는 묻지 않음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9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5694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우선순위에서 사람이 빠짐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28437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가능성(ICE)만 보고 구성원의 심리적·역량적 준비도 무시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63824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369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변화관리가 분류로 끝남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35112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저항 유형은 나눴지만 코칭·퍼실리테이션 실행법이 없음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9044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없이 확산 선언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41788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결과를 검증하지 않고 전사 확산 강행 → 실패 재현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8046720" cy="9144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720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원인: '기술 도입'과 '사람 전환'을 분리해서 접근했기 때문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FLOW~ AX 차별점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HR과 AI를 연결하는 교육 — 사람 중심 접근이 만드는 차이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645920" cy="384048"/>
          </a:xfrm>
          <a:prstGeom prst="rect">
            <a:avLst/>
          </a:prstGeom>
          <a:solidFill>
            <a:srgbClr val="1A233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1188720"/>
            <a:ext cx="2560320" cy="384048"/>
          </a:xfrm>
          <a:prstGeom prst="rect">
            <a:avLst/>
          </a:prstGeom>
          <a:solidFill>
            <a:srgbClr val="1A233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1887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일반 AX 접근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384048"/>
          </a:xfrm>
          <a:prstGeom prst="rect">
            <a:avLst/>
          </a:prstGeom>
          <a:solidFill>
            <a:srgbClr val="1A233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FLOW~ AX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16459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572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572768"/>
            <a:ext cx="25603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572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가시화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572768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727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교육 선행 (Phase 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1956816"/>
            <a:ext cx="164592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9568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가시화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1956816"/>
            <a:ext cx="256032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1956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중심 캔버스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956816"/>
            <a:ext cx="384048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9568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캔버스 — 역할+업무+역량 통합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340864"/>
            <a:ext cx="16459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3408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2340864"/>
            <a:ext cx="25603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3408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3축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340864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408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4축 — 사람 준비도(P) 추가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724912"/>
            <a:ext cx="164592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7249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재설계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2724912"/>
            <a:ext cx="256032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7249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선언적 원칙 제시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724912"/>
            <a:ext cx="384048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7249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WHY-WHAT-HOW 워크숍 방법론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108960"/>
            <a:ext cx="16459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108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변화관리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3108960"/>
            <a:ext cx="25603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31089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저항 유형 분류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108960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108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STAR-AR 코칭 프레임 적용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493008"/>
            <a:ext cx="164592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4930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측정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94560" y="3493008"/>
            <a:ext cx="256032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34930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차원 나열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93008"/>
            <a:ext cx="3840480" cy="384048"/>
          </a:xfrm>
          <a:prstGeom prst="rect">
            <a:avLst/>
          </a:prstGeom>
          <a:solidFill>
            <a:srgbClr val="F4F4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4930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+ ARQ 3중 검증 체계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3877056"/>
            <a:ext cx="16459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8770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대응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94560" y="3877056"/>
            <a:ext cx="25603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0" y="38770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3877056"/>
            <a:ext cx="38404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87705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3경로 실패 시나리오 사전 정의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3708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AX는 '기술 도입'이 아닌 '사람이 완수하는 전환'에 집중합니다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FLOW~ AX 방법론 — 전체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Phase의 통합 로드맵  ·  피드백 루프로 지속 고도화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82880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1325880" cy="3200400"/>
          </a:xfrm>
          <a:prstGeom prst="rect">
            <a:avLst/>
          </a:prstGeom>
          <a:solidFill>
            <a:srgbClr val="2D3A4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1325880" cy="54864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7830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리터러시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8745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55648" y="1097280"/>
            <a:ext cx="1325880" cy="3200400"/>
          </a:xfrm>
          <a:prstGeom prst="rect">
            <a:avLst/>
          </a:prstGeom>
          <a:solidFill>
            <a:srgbClr val="2D3A4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55648" y="1097280"/>
            <a:ext cx="1325880" cy="54864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14" name="Text 12"/>
          <p:cNvSpPr/>
          <p:nvPr/>
        </p:nvSpPr>
        <p:spPr>
          <a:xfrm>
            <a:off x="1755648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17830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역할·업무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 가시화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55648" y="2606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81528" y="18745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91256" y="1097280"/>
            <a:ext cx="1325880" cy="3200400"/>
          </a:xfrm>
          <a:prstGeom prst="rect">
            <a:avLst/>
          </a:prstGeom>
          <a:solidFill>
            <a:srgbClr val="2D3A4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91256" y="1097280"/>
            <a:ext cx="1325880" cy="54864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0" name="Text 18"/>
          <p:cNvSpPr/>
          <p:nvPr/>
        </p:nvSpPr>
        <p:spPr>
          <a:xfrm>
            <a:off x="3191256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64408" y="17830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결정(ICEP)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91256" y="2606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17136" y="18745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26864" y="1097280"/>
            <a:ext cx="1325880" cy="3200400"/>
          </a:xfrm>
          <a:prstGeom prst="rect">
            <a:avLst/>
          </a:prstGeom>
          <a:solidFill>
            <a:srgbClr val="2D3A4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1097280"/>
            <a:ext cx="1325880" cy="54864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864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0016" y="17830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재설계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26864" y="2606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52744" y="18745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62472" y="1097280"/>
            <a:ext cx="1325880" cy="3200400"/>
          </a:xfrm>
          <a:prstGeom prst="rect">
            <a:avLst/>
          </a:prstGeom>
          <a:solidFill>
            <a:srgbClr val="2D3A4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62472" y="1097280"/>
            <a:ext cx="1325880" cy="54864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2" name="Text 30"/>
          <p:cNvSpPr/>
          <p:nvPr/>
        </p:nvSpPr>
        <p:spPr>
          <a:xfrm>
            <a:off x="6062472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35624" y="17830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+변화관리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62472" y="2606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88352" y="18745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98080" y="1097280"/>
            <a:ext cx="1325880" cy="3200400"/>
          </a:xfrm>
          <a:prstGeom prst="rect">
            <a:avLst/>
          </a:prstGeom>
          <a:solidFill>
            <a:srgbClr val="2D3A4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0" y="1097280"/>
            <a:ext cx="1325880" cy="54864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0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71232" y="17830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측정·확산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2606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526280"/>
            <a:ext cx="8503920" cy="0"/>
          </a:xfrm>
          <a:prstGeom prst="line">
            <a:avLst/>
          </a:prstGeom>
          <a:noFill/>
          <a:ln w="12700">
            <a:solidFill>
              <a:srgbClr val="E8601C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0292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완료 후 피드백 루프를 통해 Phase 0으로 순환  ·  지속적 고도화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 &amp; 1 — 기반 구축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선행 교육 → 역할·업무·역량 가시화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 AI 리터러시 선행 교육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 (기본반 + 실무반)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865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구성원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개념 → 핸즈온 → 미니 프로젝트 → 공유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450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심화 → 도구 매핑 → 워크플로우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기준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사용 90%+ / 긍정 응답 80%+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3035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없이 Phase 1은 작동 않음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0" cy="3474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RTC 캔버스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572768"/>
            <a:ext cx="36576" cy="41148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572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(Role)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17922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핵심가치 / 역할경계 / 성장벡터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075688"/>
            <a:ext cx="36576" cy="41148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075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(Task)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2295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업무+시간 / 입출력 / AI적합도 3단계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578608"/>
            <a:ext cx="36576" cy="41148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(Competency)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현재역량 / AI협업역량 / 전환 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조직 업무 지도  +  AI 적용 후보군  +  역량 갭 리포트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&amp; 3 — 설계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우선순위 결정 → WHY-WHAT-HOW 업무 재설계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ICEP 매트릭스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Impact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488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성과 직결 정도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Confidence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 정확도·신뢰성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Ease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기술적·조직적 도입 난이도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3931920" cy="329184"/>
          </a:xfrm>
          <a:prstGeom prst="rect">
            <a:avLst/>
          </a:prstGeom>
          <a:solidFill>
            <a:srgbClr val="FF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15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People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2615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심리적·역량적 전환 준비도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즉시  |  6-7 단기  |  4-5 중기  |  3- 보류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P축(사람 준비도)이 기존 ICE 대비 FLOW~의 핵심 차별점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0" cy="3474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WHY-WHAT-HOW 워크숍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36576" cy="658368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(2h)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801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재설계하는가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1993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시각화 → 데이터 확인 → 백지 설계 질문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350008"/>
            <a:ext cx="36576" cy="658368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(3h)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578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바꾸는가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770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설계 → 3단계 분류 → AI 도구 매핑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127248"/>
            <a:ext cx="36576" cy="658368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(3h)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355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실행하는가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세팅 → 프롬프트 설계 → 핸드오프 → 시연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 &amp; 5 — 실행 &amp; 성과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실행·변화관리 → 측정·확산·거버넌스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파일럿 실행 + 변화관리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3단계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준비(W1) → 실행(W2-4) → 평가(W5-6)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384048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→ 과제 → 코칭 → 측정 → 대안 → 성찰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84048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저항 4유형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267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두려움 / 무능 / 관성 / 불신형별 대응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384048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151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Champion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615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3축 선발 → 2주 교육 → 팀별 AI 길잡이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935224"/>
            <a:ext cx="384048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대응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2962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3경로 사전 정의(연장/2차/Phase2 복귀)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188720"/>
            <a:ext cx="0" cy="34747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측정·확산·거버넌스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572768"/>
            <a:ext cx="36576" cy="41148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572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1-4주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17922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— 즉시 실행 가능 업무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75688"/>
            <a:ext cx="36576" cy="41148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075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 2-3개월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2295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혁신 — 프로세스 재설계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578608"/>
            <a:ext cx="36576" cy="41148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 4-6개월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전환 — 고가치 판단업무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측정: EARS (효과성·정렬도·적합도·지속가능성) + ARQ 3중 검증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기대 성과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82880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40%+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169164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시간 단축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78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파일럿 기준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005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85%+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3794760" y="2103120"/>
            <a:ext cx="169164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만족도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578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+ 워크숍 전반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1005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Wave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6629400" y="2103120"/>
            <a:ext cx="169164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단계적 확산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578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→ 혁신 → 전략 전환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8138160" cy="0"/>
          </a:xfrm>
          <a:prstGeom prst="line">
            <a:avLst/>
          </a:prstGeom>
          <a:noFill/>
          <a:ln w="10160">
            <a:solidFill>
              <a:srgbClr val="2D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타임라인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1508760" cy="32004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94560" y="3611880"/>
            <a:ext cx="1508760" cy="320040"/>
          </a:xfrm>
          <a:prstGeom prst="rect">
            <a:avLst/>
          </a:prstGeom>
          <a:solidFill>
            <a:srgbClr val="2D3A4E"/>
          </a:solidFill>
          <a:ln/>
        </p:spPr>
      </p:sp>
      <p:sp>
        <p:nvSpPr>
          <p:cNvPr id="23" name="Text 21"/>
          <p:cNvSpPr/>
          <p:nvPr/>
        </p:nvSpPr>
        <p:spPr>
          <a:xfrm>
            <a:off x="219456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1-2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86200" y="3611880"/>
            <a:ext cx="1508760" cy="320040"/>
          </a:xfrm>
          <a:prstGeom prst="rect">
            <a:avLst/>
          </a:prstGeom>
          <a:solidFill>
            <a:srgbClr val="2D3A4E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86200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재설계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3611880"/>
            <a:ext cx="1508760" cy="320040"/>
          </a:xfrm>
          <a:prstGeom prst="rect">
            <a:avLst/>
          </a:prstGeom>
          <a:solidFill>
            <a:srgbClr val="2D3A4E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~15주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69480" y="3611880"/>
            <a:ext cx="1508760" cy="320040"/>
          </a:xfrm>
          <a:prstGeom prst="rect">
            <a:avLst/>
          </a:prstGeom>
          <a:solidFill>
            <a:srgbClr val="2D3A4E"/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36118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9480" y="3977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FLOW~ : AX Design Lab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HR과 AI를 연결하는 교육을 설계합니다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0"/>
          </a:xfrm>
          <a:prstGeom prst="line">
            <a:avLst/>
          </a:prstGeom>
          <a:noFill/>
          <a:ln w="31750">
            <a:solidFill>
              <a:srgbClr val="E86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임정훈 (Demian)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디자이너 · AI 코디네이터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3657600" cy="0"/>
          </a:xfrm>
          <a:prstGeom prst="line">
            <a:avLst/>
          </a:prstGeom>
          <a:noFill/>
          <a:ln w="19050">
            <a:solidFill>
              <a:srgbClr val="E860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 현장에서 15년간 사람의 변화를 설계해 온 교육 전문가.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강의, 퍼실리테이션, 코칭으로 영역을 넓혔고,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시대에는 사람이 기술과 함께 일하는 방식을 설계합니다.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기본반·실무반, 직군별 AI 활용 교육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65760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퍼실리테이션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3108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캔버스, ICEP 스코어링, WHY-WHAT-HOW 워크숍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65760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3474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STAR-AR 전환 코칭, AX Champion 육성, 리더 코칭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3657600" cy="0"/>
          </a:xfrm>
          <a:prstGeom prst="line">
            <a:avLst/>
          </a:prstGeom>
          <a:noFill/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진단, Phase 0-5 설계, 파일럿 운영, EARS 측정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flowdesign.ai.kr  |  rescuemyself@gmail.com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234440"/>
            <a:ext cx="0" cy="32004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방법론 자산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캔버스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역할·업무·역량 통합 가시화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매트릭스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준비도 포함 우선순위 결정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240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WHY-WHAT-HOW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코칭 기반 업무 재설계 워크숍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560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변화관리 코칭 프레임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880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+ ARQ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측정 + 품질 검증 3중 체계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273552"/>
            <a:ext cx="39776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364992"/>
            <a:ext cx="36576" cy="347472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현장을 아는 AI 전문가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3547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기술만 아는 컨설턴트가 아닙니다.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776472"/>
            <a:ext cx="36576" cy="347472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3776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교육이 곧 전환 전략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39593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AI와 협업하는 역량을 교육으로 만듭니다.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4187952"/>
            <a:ext cx="36576" cy="347472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4187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끝까지 함께하는 파트너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37760" y="43708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파일럿부터 확산까지 현장에서 함께합니다.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   flowdesign.ai.kr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60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다음 단계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828800" cy="0"/>
          </a:xfrm>
          <a:prstGeom prst="line">
            <a:avLst/>
          </a:prstGeom>
          <a:noFill/>
          <a:ln w="25400">
            <a:solidFill>
              <a:srgbClr val="E860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87552"/>
            <a:ext cx="411480" cy="411480"/>
          </a:xfrm>
          <a:prstGeom prst="ellipse">
            <a:avLst/>
          </a:prstGeom>
          <a:solidFill>
            <a:srgbClr val="E8601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9326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킥오프 미팅 (1~2시간)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현황 파악 · 기대 성과 합의 · 파일럿 범위 결정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" y="1399032"/>
            <a:ext cx="0" cy="612648"/>
          </a:xfrm>
          <a:prstGeom prst="line">
            <a:avLst/>
          </a:prstGeom>
          <a:noFill/>
          <a:ln w="12700">
            <a:solidFill>
              <a:srgbClr val="E8601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02920" y="2084832"/>
            <a:ext cx="411480" cy="411480"/>
          </a:xfrm>
          <a:prstGeom prst="ellipse">
            <a:avLst/>
          </a:prstGeom>
          <a:solidFill>
            <a:srgbClr val="E8601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29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및 설계 (1~2주)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ICEP 간이 진단 · Phase 0-1 설계 · 세부 일정 확정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2496312"/>
            <a:ext cx="0" cy="612648"/>
          </a:xfrm>
          <a:prstGeom prst="line">
            <a:avLst/>
          </a:prstGeom>
          <a:noFill/>
          <a:ln w="12700">
            <a:solidFill>
              <a:srgbClr val="E8601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" y="3182112"/>
            <a:ext cx="411480" cy="411480"/>
          </a:xfrm>
          <a:prstGeom prst="ellipse">
            <a:avLst/>
          </a:prstGeom>
          <a:solidFill>
            <a:srgbClr val="E8601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1272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착수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474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리터러시 기본반 시작 · 전환의 첫 걸음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8138160" cy="0"/>
          </a:xfrm>
          <a:prstGeom prst="line">
            <a:avLst/>
          </a:prstGeom>
          <a:noFill/>
          <a:ln w="10160">
            <a:solidFill>
              <a:srgbClr val="2D3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062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HR과 AI를 연결하는 교육을 설계합니다.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FLOW~ : AX Design Lab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</Words>
  <Application>Microsoft Office PowerPoint</Application>
  <PresentationFormat>화면 슬라이드 쇼(16:9)</PresentationFormat>
  <Paragraphs>279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FLOW~ AX Consulting Proposal</dc:title>
  <dc:subject>PptxGenJS Presentation</dc:subject>
  <dc:creator>임정훈 (Demian) | FLOW~</dc:creator>
  <cp:lastModifiedBy>Demian</cp:lastModifiedBy>
  <cp:revision>2</cp:revision>
  <dcterms:created xsi:type="dcterms:W3CDTF">2026-03-24T07:26:44Z</dcterms:created>
  <dcterms:modified xsi:type="dcterms:W3CDTF">2026-03-24T08:17:34Z</dcterms:modified>
</cp:coreProperties>
</file>