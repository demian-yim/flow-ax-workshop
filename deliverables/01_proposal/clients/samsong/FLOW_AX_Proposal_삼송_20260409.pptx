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263640"/>
            <a:ext cx="1216152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삼송의 AI 전환,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'도구 도입'</a:t>
            </a:r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아닌 </a:t>
            </a:r>
            <a:pPr indent="0" marL="0">
              <a:buNone/>
            </a:pPr>
            <a:r>
              <a:rPr lang="en-US" sz="38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'사람의 전환'</a:t>
            </a:r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371600" cy="45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AX 컨설팅 제안서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4월 9일 · 담당 파트너 Demian (임정훈)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플로우~ : AX 디자인 연구소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AX인가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생성형 AI 2년차, 게임이 바뀌었다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"AI 도입"의 시대는 끝났다.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"AI 전환(AX)"의 시대다.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356616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0040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83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기업 생성형 AI 도입 실험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McKinsey 2025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3200400"/>
            <a:ext cx="356616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320040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383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7%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466344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전환에 성공한 조직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도입의 역설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3200400"/>
            <a:ext cx="356616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320040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33832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격차 원년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5349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 · 국내 AI기본법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삼송 상황 진단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인터뷰 기반 — 우리가 이해한 현재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0233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현황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페인포인트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업무/생산성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국내 본사 + 글로벌 5개 거점, OEM 6사 공급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 노하우 디지털화 부족 · 거점 간 표준화 미흡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활용 수준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ChatGPT 산발적 사용, 전사 정책 미수립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Shadow AI · 부서별 격차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인력/문화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170명 · 평균 근속 길어 변화관리 신중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변화 피로 · 세대 간 격차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거버넌스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정책 공백 · 글로벌 데이터 분류 미정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정책 공백 · 보안 우려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50292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삼송이 풀어야 할 진짜 질문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AI 도구를 살 것인가가 아니라,
</a:t>
            </a:r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조직의 일하는 방식을 어떻게 다시 설계할 것인가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접근의 한계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기업이 빠지는 3대 함정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6304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중심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"라이선스를 사면 변화가 온다"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샀는데 아무도 안 쓴다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14630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80560" y="146304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일회성 교육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"1일 특강으로 AI 이해시킨다"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다음 날 잊힌다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1463040"/>
            <a:ext cx="3566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1463040"/>
            <a:ext cx="356616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함정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0" y="2057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부서 주도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595360" y="2743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"AI는 기술팀의 일"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0" y="3931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현업은 방관자가 된다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2120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FLOW~의 관점  </a:t>
            </a:r>
            <a:pPr indent="0" marL="0">
              <a:buNone/>
            </a:pPr>
            <a:r>
              <a:rPr lang="en-US" sz="16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AX는 </a:t>
            </a:r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교육(E) + 퍼실리테이션(F) + 코칭(C) + 컨설팅(Co)</a:t>
            </a:r>
            <a:pPr indent="0" marL="0">
              <a:buNone/>
            </a:pPr>
            <a:r>
              <a:rPr lang="en-US" sz="16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 통합 설계로만 성공한다.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AX 방법론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7단계 전환 플로우 (Phase -1 ~ Phase 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591056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P-1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2148840"/>
            <a:ext cx="859536" cy="0"/>
          </a:xfrm>
          <a:prstGeom prst="line">
            <a:avLst/>
          </a:prstGeom>
          <a:noFill/>
          <a:ln w="12700">
            <a:solidFill>
              <a:srgbClr val="0F15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준비도 진단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데이터·성숙도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76856" y="1554480"/>
            <a:ext cx="1591056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642616" y="2148840"/>
            <a:ext cx="85953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리터러시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22576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+ 실무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13632" y="1554480"/>
            <a:ext cx="1591056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79392" y="2148840"/>
            <a:ext cx="859536" cy="0"/>
          </a:xfrm>
          <a:prstGeom prst="line">
            <a:avLst/>
          </a:prstGeom>
          <a:noFill/>
          <a:ln w="12700">
            <a:solidFill>
              <a:srgbClr val="0F15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 캔버스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59352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Role·Task·Comp.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50408" y="1554480"/>
            <a:ext cx="1591056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96128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916168" y="2148840"/>
            <a:ext cx="85953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ICEP 매트릭스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96128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I·C·E·P 4축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87184" y="1554480"/>
            <a:ext cx="1591056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32904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552944" y="2148840"/>
            <a:ext cx="859536" cy="0"/>
          </a:xfrm>
          <a:prstGeom prst="line">
            <a:avLst/>
          </a:prstGeom>
          <a:noFill/>
          <a:ln w="12700">
            <a:solidFill>
              <a:srgbClr val="0F1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32904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AI-Native 재설계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32904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WHY·WHAT·HOW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823960" y="1554480"/>
            <a:ext cx="1591056" cy="2377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189720" y="2148840"/>
            <a:ext cx="85953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69680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파일럿+변화관리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869680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STAR-AR 코칭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460736" y="1554480"/>
            <a:ext cx="1591056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06456" y="164592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 5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826496" y="2148840"/>
            <a:ext cx="859536" cy="0"/>
          </a:xfrm>
          <a:prstGeom prst="line">
            <a:avLst/>
          </a:prstGeom>
          <a:noFill/>
          <a:ln w="12700">
            <a:solidFill>
              <a:srgbClr val="0F15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06456" y="2286000"/>
            <a:ext cx="1499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측정·확산·거버넌스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506456" y="3200400"/>
            <a:ext cx="1499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EARS · NIST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4297680"/>
            <a:ext cx="356616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2296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먼저, 도구는 나중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82296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 지도 없이는 AI도 길을 잃는다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480560" y="4297680"/>
            <a:ext cx="356616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66344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먼저, 시스템은 나중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466344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변화는 기술이 아닌 사람이 만든다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21040" y="4297680"/>
            <a:ext cx="3566160" cy="201168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03920" y="4434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8503920" y="5029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가능·확산 가능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503920" y="55321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4축 입증, Wave로 확장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3축 서비스 아키텍처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교육(E) × 퍼실리테이션(F) × 코칭(C) + 컨설팅(Co)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교육 (E)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Aware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Explore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Apply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 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 Lead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L6 Scale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146304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146304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퍼실리테이션 (F)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634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Facilitation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Kickoff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RTC 워크숍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ICEP 세션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 WHY-WHAT-HOW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 파일럿 리뷰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4709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L6 거버넌스 설계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321040" y="146304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1463040"/>
            <a:ext cx="35661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코칭 (C)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50392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Coaching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L1 1:1 진단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0" y="2880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L2 저항관리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L3 Champion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595360" y="3794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L4 리더 전환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59536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L5 팀 코칭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595360" y="4709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L6 조직 코칭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6692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컨설팅(Co) 총괄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 → 설계 → 실행 → 측정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5패키지 매트릭스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삼송 맞춤 — SME + Leader AX 혼합 (경량 Mid-Corp)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03120"/>
                <a:gridCol w="18288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패키지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타겟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규모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투자 (원, VAT 별도)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🏢 Enterprise AX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대기업 1000인+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전사/사업부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4~8개월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1.5억 ~ 5억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🏬 Mid-Corp AX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중견 300~1000인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부서/팀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2~4개월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4천 ~ 1.2억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🏪 SME AX Workshop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중소 300인 미만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PBL 집약형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4~6주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800만 ~ 3천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👔 Leader AX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임원/팀장급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코호트 10~20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2일~4주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1500만 ~ 5천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⚡ Quick Start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검토 기업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의사결정자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반일~1일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300만 ~ 800만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484632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937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삼송 추천: SME + Leader AX 혼합 (경량 Mid-Corp)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14400" y="54406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근거: 170명 + 첫 전사 AX, 8주 내 파일럿까지 가시화 가능한 균형형 트랙   ·   포함 Phase: Phase -1·0·1·2·4 핵심   ·   투입: 35 MD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8521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산출물: 진단 리포트 · RTC 5종 · ICEP Top5 · 파일럿 1건 · EARS 베이스라인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로드맵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예시: 12주 Mid-Corp AX 기준 — 실제 일정은 Kickoff 후 조정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262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8978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2694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410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126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6984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384280" y="1280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1645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-1  준비도 진단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1691640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1691640"/>
            <a:ext cx="6858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1214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0   AI 리터러시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40480" y="2167128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2167128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596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  RTC 캔버스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2642616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12080" y="2642616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0723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  ICEP 매트릭스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40480" y="3118104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3118104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547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  재설계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40480" y="3593592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593592"/>
            <a:ext cx="137160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4023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4   파일럿+변화관리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0" y="4069080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4069080"/>
            <a:ext cx="2743200" cy="2926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49884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5   측정·확산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40480" y="4544568"/>
            <a:ext cx="8229600" cy="292608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0" y="4544568"/>
            <a:ext cx="2743200" cy="2926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5212080"/>
            <a:ext cx="1088136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2852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마일스톤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W2  데이터·성숙도 진단 리포트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48056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W4  AI 리터러시 교육 완료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38160" y="5623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W6  RTC 핵심 업무 지도화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2296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W8  ICEP 우선순위 + Top 5 과제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48056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W10  파일럿 중간 리뷰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38160" y="5989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W12  EARS 대시보드 + 확산 로드맵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산출물 샘플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Phase별 핵심 워크시트·도구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35661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RTC 캔버스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Role · Task · Competency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각 Task별 AI 접점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현재 역량 × 필요 역량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3017520" cy="12801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샘플 시각화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80560" y="155448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554480"/>
            <a:ext cx="35661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ICEP 매트릭스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5488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Impact × Confidence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× Ease × People Readiness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Top 우선순위 자동 도출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4663440"/>
            <a:ext cx="3017520" cy="12801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샘플 시각화 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21040" y="1554480"/>
            <a:ext cx="35661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21040" y="1554480"/>
            <a:ext cx="35661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1627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EARS 대시보드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595360" y="2834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Efficiency · Adoption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Revenue · Sustainability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59536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월간 측정·시각화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95360" y="4663440"/>
            <a:ext cx="3017520" cy="12801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9536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샘플 시각화 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 — 4축 ROI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효과 (6개월 기준)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69748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5544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효율성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업무 시간 단축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25~40%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3520440" y="1554480"/>
            <a:ext cx="269748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554480"/>
            <a:ext cx="26974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033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매출/가치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고객대응·제안 속도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+30%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269748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55448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836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Shadow AI 제거율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90%+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9281160" y="1554480"/>
            <a:ext cx="2697480" cy="27432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1554480"/>
            <a:ext cx="269748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6404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🏃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4640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민첩성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4640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 사이클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464040" y="3108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-50%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640080" y="4572000"/>
            <a:ext cx="5349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정성 효과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9377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'AI를 써야 한다'는 부담 → 'AI와 함께 일한다'는 자신감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부서 간 격차 해소 · AX Champion 네트워크 형성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거버넌스 내재화 — 통제 없는 자율의 문화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4572000"/>
            <a:ext cx="534924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산식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55080" y="5029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ROI = (절감시간 × 시간단가 + 신규창출가치 − 투자) / 투자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55080" y="5577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일반적으로 6개월 내 1.8 ~ 3.5배 회수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&amp; 방법론 배경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FLOW~인가 — 3대 차별점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65760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1828800"/>
            <a:ext cx="2011680" cy="201168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4688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DEMIAN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Lead Partner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임정훈 (Demian)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HRD 15년 경력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200+ AI 앱 실전 개발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 대표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26280" y="1554480"/>
            <a:ext cx="6995160" cy="14630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55448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60720" y="1691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HRD DNA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AI 컨설팅사보다 '사람의 학습과 변화'를 깊이 이해합니다.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6280" y="3154680"/>
            <a:ext cx="6995160" cy="14630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315468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918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60720" y="32918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200앱 실전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PPT로만 말하지 않습니다. 우리가 만든 도구로 고객의 문제를 풉니다.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4754880"/>
            <a:ext cx="6995160" cy="14630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4754880"/>
            <a:ext cx="109728" cy="14630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60720" y="4892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전환 완수 파트너십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54880" y="54406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주고 떠나지 않습니다. 조직이 전환을 완료할 때까지 함께합니다.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보안 · 거버넌스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표준 + 글로벌 프레임워크 준수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20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영역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FLOW~ 표준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분류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Level 1(공개) · Level 2(내부) · Level 3(기밀) 3단계 운영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 플랫폼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Enterprise/Team 플랜 또는 API — 학습 반영 차단 확인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NDA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Kickoff 전 필수 체결 — 구체 업무·파일은 NDA 이후 수령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프롬프트 로그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고객사 전용 저장소 격리, 종료 시 파기 증빙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개인정보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가명처리 후 실습, 개인정보보호법 2025 개정안 준수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463040"/>
            <a:ext cx="374904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거버넌스 프레임워크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NIST AI RMF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0" y="2468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 · MAP · MEASURE · MANAGE 체크리스트 제공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 AI Act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5528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Risk 분류 맵핑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55280" y="4480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AI기본법(2026)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955280" y="48463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가이드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5852160"/>
            <a:ext cx="10881360" cy="5943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897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지식재산권 </a:t>
            </a:r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방법론·프레임워크 = FLOW~ 귀속  ·  고객사 데이터·결과물 = 삼송 귀속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레퍼런스 &amp; 차별점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대비 FLOW~ 포지셔닝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레퍼런스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3492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H그룹 임원 코칭 — 2026 진행 협의 중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53492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202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HRDK 중소기업 AX 워크숍 — 커리큘럼 공급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53492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20+ 기업 AI 리터러시 &amp; 리더십 교육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5349240" cy="54864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200+ AI 앱 실전 개발 포트폴리오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상세 레퍼런스는 NDA 체결 후 개별 공유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경쟁사 대비 차별점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069080"/>
          <a:ext cx="10881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017520"/>
                <a:gridCol w="301752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대형 컨설팅사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IT SI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FLOW~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전략·보고서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구축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사람·업무·조직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PPT 리포트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교육+퍼실+코칭+도구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기간/비용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장기·고가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개발 중심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현실적·실행 중심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종료 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리포트 전달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53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유지보수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Champion 네트워크 자립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B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&amp; Next Step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6217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삼송의 AX, 끝까지 함께 가겠습니다.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54864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제안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패키지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SME + Leader AX 혼합 (경량 Mid-Corp)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514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(5~6월)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투입 공수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MD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337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 일정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Kickoff 30% / 중간 40% / 완료 30%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포함 범위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53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Kickoff · 워크숍 6회 · 임원 코호트 4회 · 1:1 코칭 8회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4206240"/>
            <a:ext cx="51206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43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 (VAT 별도)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47091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4,500만원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82296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출장비, 인쇄물, 외부 강사 초청은 별도 협의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Step — 3단계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1031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148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7804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제안 검토 + 1차 미팅 (60분)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상세화, 패키지 조정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32461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7804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 + 사전 진단 (1주)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780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-1 준비도 간이 진단 무상 제공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0" y="4389120"/>
            <a:ext cx="640080" cy="640080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4434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1780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SOW 확정 + Kickoff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8주 (5~6월) 전환 여정 시작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5669280"/>
            <a:ext cx="53035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715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Demian (임정훈) 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[데미안 메일] · [데미안 연락처]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653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FLOW~ : AX Design Lab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0" y="6565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FLOW~ : AX Design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FLOW~ AX 컨설팅 제안서</dc:title>
  <dc:subject>PptxGenJS Presentation</dc:subject>
  <dc:creator>Demian (FLOW~ : AX Design Lab)</dc:creator>
  <cp:lastModifiedBy>Demian (FLOW~ : AX Design Lab)</cp:lastModifiedBy>
  <cp:revision>1</cp:revision>
  <dcterms:created xsi:type="dcterms:W3CDTF">2026-04-09T06:45:56Z</dcterms:created>
  <dcterms:modified xsi:type="dcterms:W3CDTF">2026-04-09T06:45:56Z</dcterms:modified>
</cp:coreProperties>
</file>