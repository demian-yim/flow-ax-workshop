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37160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DESIGN LAB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9144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플로우~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디자인 연구소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2026. 04. 09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6263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Demian (임정훈)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Starter Track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삼송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시작해볼 만한 </a:t>
            </a:r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규모</a:t>
            </a:r>
            <a:pPr indent="0" marL="0">
              <a:buNone/>
            </a:pPr>
            <a:r>
              <a:rPr lang="en-US" sz="38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0" y="3429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전환 실무 접근 제안서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4572000" y="4663440"/>
            <a:ext cx="73152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4663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페이지 보고서보다,
</a:t>
            </a:r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부서가 이번 달에 30분씩 아낄 수 있는 </a:t>
            </a:r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작동하는 변화</a:t>
            </a:r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제안서는 삼송과의 협력 검토 목적으로 작성되었습니다.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우리의 포지셔닝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문서는 삼송의 현재 상황을 </a:t>
            </a:r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진단하거나 평가하기 위한 문서가 아닙니다.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3152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이동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"AX가 필요한가?"라는 질문은 이미 대부분의 제조 기업에서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"어떻게 시작할 것인가?"로 넘어갔습니다.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73152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제안의 초점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무엇부터, 어떤 순서로, 어느 규모로 시작해야 하는가.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질문에 집중합니다.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73152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37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FLOW~의 정체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컨설팅사가 아닙니다.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15년 HRD 현장 + 200+ AI 앱 실전 개발자 기반의 실행 파트너입니다.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자동차 부품 중견 제조사 AX 공통 과제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사례와 제조 부문 AX 프로젝트에서 반복 관찰되는 5가지 패턴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경험형 지식의 속인화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30년+ 축적된 공정·품질·고객 대응 노하우가 개인에 머물러 있음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4088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거점 간 문서 비동기화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3774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국가별 언어·시스템·시차로 자료 표준화 비용이 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사무 업무의 과부하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6118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영업·QA·R&amp;D의 보고서·번역·사양정리·견적 대응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040880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현장-본사 데이터 연결 미흡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36118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ERP·MES 데이터는 있지만 실시간 활용 여지 제한적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343400"/>
            <a:ext cx="11155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63040" y="448056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단위 Shadow AI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4846320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AI 사용은 많지만 전사 정책은 공백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5806440"/>
            <a:ext cx="11155680" cy="5486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관찰 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5가지 중 1~2개는 대부분의 조직에 해당합니다. 삼송의 구체적 우선순위는 Phase -1 준비도 진단에서 함께 확인합니다.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실무 접근 원칙 4가지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05840" y="2377440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전략보다 작은 실행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898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Small Execution &gt; Big Strategy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200p 보고서보다 3개 부서가 이번 달에 30분씩 아낄 수 있는 실제 변화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629400" y="2377440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도입이 아닌 역량 이전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2898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Capability Transfer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9400" y="3200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Champion 3~5명을 내부 육성. FLOW~는 종료 후 3개월 Q&amp;A 핫라인으로 자립 지원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005840" y="4754880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기술보다 사람의 루틴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5276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Routine &gt; Tools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5577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3개월마다 바뀐다. 하지만 '학습하는 문화'는 지속된다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977640"/>
            <a:ext cx="5440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629400" y="4754880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속도보다 정합성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29400" y="5276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Alignment &gt; Speed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5577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보안·거버넌스·인사·고객사 요구를 선(先) 반영. 최소 정책(MVG)부터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FLOW~ AX 7단계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591056" cy="27432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591056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준비도 진단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데이터·성숙도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STARTER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68296" y="1554480"/>
            <a:ext cx="1591056" cy="27432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68296" y="1554480"/>
            <a:ext cx="1591056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8296" y="18288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59736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리터러시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9736" y="3017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기본·실무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59736" y="3886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STARTER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05072" y="1554480"/>
            <a:ext cx="1591056" cy="27432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5072" y="1554480"/>
            <a:ext cx="1591056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18288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96512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 캔버스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96512" y="3017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Role·Task·Comp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96512" y="3886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STARTER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41848" y="1554480"/>
            <a:ext cx="1591056" cy="27432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41848" y="1554480"/>
            <a:ext cx="1591056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41848" y="18288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33288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ICEP 매트릭스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33288" y="3017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I·C·E·P 4축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33288" y="3886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STARTER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78624" y="1554480"/>
            <a:ext cx="15910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78624" y="1554480"/>
            <a:ext cx="1591056" cy="109728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8624" y="18288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70064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70064" y="3017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WHY·WHAT·HOW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15400" y="1554480"/>
            <a:ext cx="1591056" cy="27432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5400" y="1554480"/>
            <a:ext cx="1591056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18288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06840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파일럿+코칭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06840" y="3017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STAR-AR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06840" y="3886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STARTER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552176" y="1554480"/>
            <a:ext cx="15910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52176" y="1554480"/>
            <a:ext cx="1591056" cy="109728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52176" y="18288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643616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측정·확산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643616" y="30175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EARS·거버넌스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" y="4846320"/>
            <a:ext cx="11155680" cy="146304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Starter Track 5개 Phase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440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-1 · 0 · 1 · 2 · 4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를 8주 경량형으로 구성  ·  </a:t>
            </a:r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· 5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파일럿 성공 후 확장 협의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1440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Phase는 독립적으로 일시 중단·재개 가능. 조직 여건에 따라 확장·축소할 수 있습니다.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STARTER 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8주 경량형 권장 구성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669280" cy="384048"/>
          </a:xfrm>
          <a:prstGeom prst="rect">
            <a:avLst/>
          </a:prstGeom>
          <a:solidFill>
            <a:srgbClr val="E7E8D1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Starter Track (경량 Mid-Corp)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5669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84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984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22576"/>
            <a:ext cx="5669280" cy="384048"/>
          </a:xfrm>
          <a:prstGeom prst="rect">
            <a:avLst/>
          </a:prstGeom>
          <a:solidFill>
            <a:srgbClr val="E7E8D1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68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 Phase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368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 · 0 · 1 · 2 · 4 (핵심 5단계)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06624"/>
            <a:ext cx="5669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52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범위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752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부서 1~2개 (15~25명)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090672"/>
            <a:ext cx="5669280" cy="384048"/>
          </a:xfrm>
          <a:prstGeom prst="rect">
            <a:avLst/>
          </a:prstGeom>
          <a:solidFill>
            <a:srgbClr val="E7E8D1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36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리더 코호트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136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10~15명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5669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규모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MD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858768"/>
            <a:ext cx="5669280" cy="384048"/>
          </a:xfrm>
          <a:prstGeom prst="rect">
            <a:avLst/>
          </a:prstGeom>
          <a:solidFill>
            <a:srgbClr val="E7E8D1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04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워크숍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904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6회 (온·오프 혼합)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242816"/>
            <a:ext cx="5669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288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코칭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1554480"/>
            <a:ext cx="5212080" cy="3072384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1554480"/>
            <a:ext cx="52120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규모인가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2148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가능한 최소 규모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5800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도입 조직에게 필요한 것은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127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실패해도 회복 가능한 규모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3284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529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후 의사결정 시점에서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730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여부를 다시 판단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4133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컨설팅 부담 없이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43342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파일럿까지 완주 가능한 금액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5029200"/>
            <a:ext cx="11155680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규모 · VAT 별도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4,500만원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6583680" y="52120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 일정 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Kickoff 30% / W4 중간 40% / W8 완료 30%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 범위 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Kickoff · 워크숍 6회 · 리더 코호트 4회 · 1:1 코칭 8회 · 산출물 일체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8주 주차별 흐름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1155680" cy="41148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581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0360" y="15819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66760" y="1581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11155680" cy="502920"/>
          </a:xfrm>
          <a:prstGeom prst="rect">
            <a:avLst/>
          </a:prstGeom>
          <a:solidFill>
            <a:srgbClr val="E7E8D1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P-1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Kickoff + 인터뷰 + 진단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6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리포트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42316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14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2514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리터러시 기본반 (4h)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초안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11155680" cy="502920"/>
          </a:xfrm>
          <a:prstGeom prst="rect">
            <a:avLst/>
          </a:prstGeom>
          <a:solidFill>
            <a:srgbClr val="E7E8D1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017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실무반 (8h) + 부서별 실습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42900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520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036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 캔버스 워크숍 (직무 5종)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 캔버스 5종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931920"/>
            <a:ext cx="11155680" cy="502920"/>
          </a:xfrm>
          <a:prstGeom prst="rect">
            <a:avLst/>
          </a:prstGeom>
          <a:solidFill>
            <a:srgbClr val="E7E8D1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023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9164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4023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ICEP 매트릭스 세션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6676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 5 과제 선정표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43484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526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80360" y="4526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Kickoff + 코칭 1~3차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6676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계획서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4937760"/>
            <a:ext cx="11155680" cy="502920"/>
          </a:xfrm>
          <a:prstGeom prst="rect">
            <a:avLst/>
          </a:prstGeom>
          <a:solidFill>
            <a:srgbClr val="E7E8D1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029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691640" y="5029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880360" y="5029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리뷰 + 코칭 4~6차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점검 보고서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" y="544068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8D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532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691640" y="5532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880360" y="5532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 + 확산 권고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66760" y="5532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EARS 베이스라인 · 최종 리포트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핵심 산출물 9종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78308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리포트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현황 스냅샷 (A4 10~15매)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8308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리터러시 수료 확인서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참가자 개별 수여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15544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178308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8116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 캔버스 5종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116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직무 가시화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9718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320040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ICEP 우선순위 Top 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재설계 대상 과제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29718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20040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 30선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업무별 바로 쓰는 양식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297180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49640" y="320040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8116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파일럿 실행 결과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8116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업무 적용 1건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0120" y="461772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46634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91640" y="4617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Leader AX 코호트 수료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91640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리더급 10~15명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43891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61772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6634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86400" y="4617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EARS 베이스라인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86400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효율·정착·매출·지속가능성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43891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549640" y="4617720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46634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281160" y="4617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AI 거버넌스 (MVG)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281160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가능한 3p 정책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" y="5806440"/>
            <a:ext cx="11155680" cy="4572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지식재산권 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산출물은 삼송에 귀속됩니다. FLOW~는 방법론·프레임워크의 권리만 보유합니다.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최소 거버넌스 · 보안 접근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초회 도입 단계에서 필요한 최소한만 먼저 정리합니다.  ·  Minimum Viable Governance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6118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MVG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사용 가이드라인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Enterprise/Team vs 무료, 금지·허용 업무 구분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</a:t>
            </a:r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인사·경영지원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28800"/>
            <a:ext cx="36118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MVG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분류 3단계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/ 내부 / 기밀, 단계별 AI 투입 가능 여부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</a:t>
            </a:r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IT·경영지원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828800"/>
            <a:ext cx="36118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MVG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로그 관리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위치·보존 기간·파기 기준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</a:t>
            </a:r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77640"/>
            <a:ext cx="11155680" cy="128016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준거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NIST AI RMF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 · MAP · MEASURE · MANAGE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분류 (유럽 거점 대응)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AI기본법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2104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시행 대응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5577840"/>
            <a:ext cx="11155680" cy="7772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650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보안 약속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5925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이후 수령  ·  전용 저장소 격리  ·  종료 시 파기 증빙  ·  Enterprise/Team·API 전용  ·  개인정보 가명처리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진행 절차 3단계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05840" cy="1005840"/>
          </a:xfrm>
          <a:prstGeom prst="ellipse">
            <a:avLst/>
          </a:prstGeom>
          <a:solidFill>
            <a:srgbClr val="212121"/>
          </a:solidFill>
          <a:ln w="381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103120" y="224028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9933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 검토 + 60분 미팅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2468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· 범위 · 일정 협의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후보 부서 사전 선정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이해관계자 정리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25880" y="2743200"/>
            <a:ext cx="0" cy="502920"/>
          </a:xfrm>
          <a:prstGeom prst="line">
            <a:avLst/>
          </a:prstGeom>
          <a:noFill/>
          <a:ln w="25400">
            <a:solidFill>
              <a:srgbClr val="E7E8D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22960" y="3246120"/>
            <a:ext cx="1005840" cy="1005840"/>
          </a:xfrm>
          <a:prstGeom prst="ellipse">
            <a:avLst/>
          </a:prstGeom>
          <a:solidFill>
            <a:srgbClr val="212121"/>
          </a:solidFill>
          <a:ln w="381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832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103120" y="374904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1~7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35021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 + 사전 진단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3977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-1 간이 진단 (설문 + 1:1 2~3건)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공유 → 범위 최종 조정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무상 제공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25880" y="4251960"/>
            <a:ext cx="0" cy="502920"/>
          </a:xfrm>
          <a:prstGeom prst="line">
            <a:avLst/>
          </a:prstGeom>
          <a:noFill/>
          <a:ln w="25400">
            <a:solidFill>
              <a:srgbClr val="E7E8D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22960" y="4754880"/>
            <a:ext cx="1005840" cy="1005840"/>
          </a:xfrm>
          <a:prstGeom prst="ellipse">
            <a:avLst/>
          </a:prstGeom>
          <a:solidFill>
            <a:srgbClr val="212121"/>
          </a:solidFill>
          <a:ln w="381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920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2103120" y="525780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8~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50109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SOW 확정 + Kickoff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468880" y="5486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산출물·완료기준·변경관리 합의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여정 시작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3가지 약속 · Lead Partner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109728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완수까지 함께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286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후 3개월 Q&amp;A 핫라인으로 자립 지원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108960"/>
            <a:ext cx="109728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자산으로 귀속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83080" y="3749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 외 모든 산출물 = 삼송 자산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6217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572000"/>
            <a:ext cx="109728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754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현장형 실행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 보고서가 아닌, 내일 바로 쓸 수 있는 도구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1645920"/>
            <a:ext cx="4663440" cy="46634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645920"/>
            <a:ext cx="466344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41080" y="2011680"/>
            <a:ext cx="1828800" cy="182880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DEMIAN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06640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LEAD PARTNER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임정훈  ·  Demian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869680" y="4800600"/>
            <a:ext cx="13716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4983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HRD 현장 경력 15년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5239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200+ AI 앱 실전 개발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5495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HRDK 커리큘럼 공급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5751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20+ 기업 교육 진행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9525">
            <a:solidFill>
              <a:srgbClr val="E7E8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 ·  For 삼송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583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맺음말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3716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제안서는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"시작해볼 만한 </a:t>
            </a:r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규모</a:t>
            </a:r>
            <a:pPr indent="0" marL="0">
              <a:buNone/>
            </a:pPr>
            <a:r>
              <a:rPr lang="en-US" sz="28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초점을 맞췄습니다.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삼송의 </a:t>
            </a:r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네트워크</a:t>
            </a:r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 제조 노하우</a:t>
            </a:r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안전이라는 가치</a:t>
            </a:r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AX가 가장 잘 적용될 수 있는 환경입니다.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5486400"/>
            <a:ext cx="1216152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486400"/>
            <a:ext cx="1216152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전략을 판매하러 온 것이 아닙니다.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8주를 뛸 파트너로서 제안드립니다.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Demian  ·  FLOW~ : AX Design Lab  ·  2026. 04.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FLOW~ : AX Design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FLOW~ AX Starter Track 제안서 — For 삼송</dc:title>
  <dc:subject>PptxGenJS Presentation</dc:subject>
  <dc:creator>Demian</dc:creator>
  <cp:lastModifiedBy>Demian</cp:lastModifiedBy>
  <cp:revision>1</cp:revision>
  <dcterms:created xsi:type="dcterms:W3CDTF">2026-04-09T08:23:02Z</dcterms:created>
  <dcterms:modified xsi:type="dcterms:W3CDTF">2026-04-09T08:23:02Z</dcterms:modified>
</cp:coreProperties>
</file>